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411480"/>
            <a:ext cx="1645920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4114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DAY 3 OF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6858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AI Coding Assistants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for Product Engineers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DD4BF"/>
                </a:solidFill>
              </a:rPr>
              <a:t>Not autocomplete. Engineering-grade AI workflows with repo context, TDD verification, and trust calibration.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223760" y="822960"/>
            <a:ext cx="1691640" cy="3520440"/>
          </a:xfrm>
          <a:prstGeom prst="rect">
            <a:avLst/>
          </a:prstGeom>
          <a:solidFill>
            <a:srgbClr val="0D9488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223760" y="10515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D4BF"/>
                </a:solidFill>
              </a:rPr>
              <a:t>CLI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223760" y="16916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D4BF"/>
                </a:solidFill>
              </a:rPr>
              <a:t>TDD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223760" y="23317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D4BF"/>
                </a:solidFill>
              </a:rPr>
              <a:t>Repo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223760" y="29718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D4BF"/>
                </a:solidFill>
              </a:rPr>
              <a:t>Context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23760" y="36118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D4BF"/>
                </a:solidFill>
              </a:rPr>
              <a:t>Trust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84048" y="91440"/>
            <a:ext cx="8375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Autocomplete vs Agentic Coding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84048" y="868680"/>
            <a:ext cx="4023360" cy="3703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868680"/>
            <a:ext cx="402336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978408"/>
            <a:ext cx="3694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891B2"/>
                </a:solidFill>
              </a:rPr>
              <a:t>AUTOCOMPLETE (2021–2023)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490472"/>
            <a:ext cx="3694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•  Single-line suggestions inside the editor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002536"/>
            <a:ext cx="3694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•  Stateless — no repo structure awareness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514600"/>
            <a:ext cx="3694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•  No understanding of architecture or conventions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026664"/>
            <a:ext cx="3694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•  Treats every file as an isolated snippet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538728"/>
            <a:ext cx="3694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•  Fast but shallow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36592" y="868680"/>
            <a:ext cx="4023360" cy="3703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36592" y="868680"/>
            <a:ext cx="40233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4901184" y="978408"/>
            <a:ext cx="3694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AGENTIC CODING (NOW)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01184" y="1490472"/>
            <a:ext cx="3694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•  Multi-file reasoning across entire repository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01184" y="2002536"/>
            <a:ext cx="3694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•  Understands architecture, patterns &amp; conventions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01184" y="2514600"/>
            <a:ext cx="3694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•  Plans before coding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01184" y="3026664"/>
            <a:ext cx="3694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•  Writes, runs, and fixes tests in a loop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01184" y="3538728"/>
            <a:ext cx="3694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•  Context-aware, not context-blind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84048" y="91440"/>
            <a:ext cx="8375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AI-Native Engineering Workflow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84048" y="868680"/>
            <a:ext cx="196596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868680"/>
            <a:ext cx="19659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521208" y="100584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521208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536192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Define Context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029968"/>
            <a:ext cx="163677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Write CLAUDE.md and .cursorrules before the first prompt. AI behavior is governed by context quality, not prompt cleverness.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441448" y="868680"/>
            <a:ext cx="196596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41448" y="868680"/>
            <a:ext cx="19659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Shape 11"/>
          <p:cNvSpPr/>
          <p:nvPr/>
        </p:nvSpPr>
        <p:spPr>
          <a:xfrm>
            <a:off x="2578608" y="100584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2578608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06040" y="1536192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Prompt with Intent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06040" y="2029968"/>
            <a:ext cx="163677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State the goal, constraints, and edge cases upfront. Reference specific files with @ syntax. Vague prompts produce vague code.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498848" y="868680"/>
            <a:ext cx="196596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498848" y="868680"/>
            <a:ext cx="19659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Shape 17"/>
          <p:cNvSpPr/>
          <p:nvPr/>
        </p:nvSpPr>
        <p:spPr>
          <a:xfrm>
            <a:off x="4636008" y="100584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4636008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663440" y="1536192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Verify Before Accepting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63440" y="2029968"/>
            <a:ext cx="163677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Run the compiler, type checker, and tests. Never accept AI output on visual inspection alone — tools catch what eyes miss.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556248" y="868680"/>
            <a:ext cx="196596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556248" y="868680"/>
            <a:ext cx="19659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Shape 23"/>
          <p:cNvSpPr/>
          <p:nvPr/>
        </p:nvSpPr>
        <p:spPr>
          <a:xfrm>
            <a:off x="6693408" y="100584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6693408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720840" y="1536192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Document &amp; Commit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720840" y="2029968"/>
            <a:ext cx="163677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Log the prompt that produced each significant change. Your prompt log is your engineering record.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" y="91440"/>
            <a:ext cx="8375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Today's Agenda + Final Lab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84048" y="868680"/>
            <a:ext cx="8375904" cy="713232"/>
          </a:xfrm>
          <a:prstGeom prst="rect">
            <a:avLst/>
          </a:prstGeom>
          <a:solidFill>
            <a:srgbClr val="1E3A4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868680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86868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D4BF"/>
                </a:solidFill>
              </a:rPr>
              <a:t>Setup Sprint (20 min)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26080" y="868680"/>
            <a:ext cx="5669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Install Claude Code CLI, Cursor IDE, GitHub Copilot, VS Code extension pack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84048" y="1664208"/>
            <a:ext cx="8375904" cy="713232"/>
          </a:xfrm>
          <a:prstGeom prst="rect">
            <a:avLst/>
          </a:prstGeom>
          <a:solidFill>
            <a:srgbClr val="1E3A4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84048" y="1664208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1664208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D4BF"/>
                </a:solidFill>
              </a:rPr>
              <a:t>Modules 1–6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26080" y="1664208"/>
            <a:ext cx="5669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Context governance · Cursor deep workflows · Copilot productivity · Prompt-driven TDD · Trust &amp; security · Full-stack workflow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84048" y="2459736"/>
            <a:ext cx="8375904" cy="713232"/>
          </a:xfrm>
          <a:prstGeom prst="rect">
            <a:avLst/>
          </a:prstGeom>
          <a:solidFill>
            <a:srgbClr val="1E3A4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84048" y="2459736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2459736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D4BF"/>
                </a:solidFill>
              </a:rPr>
              <a:t>5 Exercises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26080" y="2459736"/>
            <a:ext cx="5669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Hands-on with real code, real tools, real failures — woven through each module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84048" y="3255264"/>
            <a:ext cx="8375904" cy="713232"/>
          </a:xfrm>
          <a:prstGeom prst="rect">
            <a:avLst/>
          </a:prstGeom>
          <a:solidFill>
            <a:srgbClr val="1E3A4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4048" y="3255264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3255264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D4BF"/>
                </a:solidFill>
              </a:rPr>
              <a:t>Final Lab (60 min)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926080" y="3255264"/>
            <a:ext cx="5669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Build FastAPI search endpoint + React TypeScript frontend + Vitest suite entirely through AI prompts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84048" y="4050792"/>
            <a:ext cx="8375904" cy="713232"/>
          </a:xfrm>
          <a:prstGeom prst="rect">
            <a:avLst/>
          </a:prstGeom>
          <a:solidFill>
            <a:srgbClr val="1E3A4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84048" y="4050792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4050792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D4BF"/>
                </a:solidFill>
              </a:rPr>
              <a:t>Deliverable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926080" y="4050792"/>
            <a:ext cx="5669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GitHub repo + .cursorrules + CLAUDE.md + prompt log + time-comparison.md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84048" y="91440"/>
            <a:ext cx="8375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Human Engineer as Reviewer, Not Typist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84048" y="868680"/>
            <a:ext cx="2651760" cy="3703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868680"/>
            <a:ext cx="265176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Shape 5"/>
          <p:cNvSpPr/>
          <p:nvPr/>
        </p:nvSpPr>
        <p:spPr>
          <a:xfrm>
            <a:off x="1344168" y="1024128"/>
            <a:ext cx="731520" cy="7315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1344168" y="102412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◈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1901952"/>
            <a:ext cx="2322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91B2"/>
                </a:solidFill>
              </a:rPr>
              <a:t>YOU DESIGN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377440"/>
            <a:ext cx="2322576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Architect the solution, define the constraints, choose the patterns.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AI cannot reason about business requirements it was never given.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55848" y="868680"/>
            <a:ext cx="2651760" cy="3703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55848" y="868680"/>
            <a:ext cx="26517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Shape 11"/>
          <p:cNvSpPr/>
          <p:nvPr/>
        </p:nvSpPr>
        <p:spPr>
          <a:xfrm>
            <a:off x="4315968" y="1024128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4315968" y="102412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◉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520440" y="1901952"/>
            <a:ext cx="2322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AI DRAFTS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20440" y="2377440"/>
            <a:ext cx="2322576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Generates implementation, tests, and boilerplate at speed.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Handles mechanical transformation — refactors, type migrations, test scaffolding.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327648" y="868680"/>
            <a:ext cx="2651760" cy="3703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27648" y="868680"/>
            <a:ext cx="26517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Shape 17"/>
          <p:cNvSpPr/>
          <p:nvPr/>
        </p:nvSpPr>
        <p:spPr>
          <a:xfrm>
            <a:off x="7287768" y="1024128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7287768" y="102412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◇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492240" y="1901952"/>
            <a:ext cx="2322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YOU VERIFY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92240" y="2377440"/>
            <a:ext cx="2322576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Run the compiler, the tests, and your security checklist.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The review step is non-negotiable — it is where engineering judgment lives.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Setup Sprint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DD4BF"/>
                </a:solidFill>
              </a:rPr>
              <a:t>Get your tools installed and verified in 20 minutes.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84048" y="91440"/>
            <a:ext cx="8375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Claude Code CLI: Install &amp; First Run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84048" y="868680"/>
            <a:ext cx="8375904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868680"/>
            <a:ext cx="54864" cy="868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86868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Install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28800" y="996696"/>
            <a:ext cx="4114800" cy="5943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1920240" y="996696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-g @anthropic-ai/claude-code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080760" y="86868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Requires Node 18+. Verify: claude --version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4048" y="1828800"/>
            <a:ext cx="8375904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84048" y="1828800"/>
            <a:ext cx="54864" cy="868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182880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Auth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828800" y="1956816"/>
            <a:ext cx="4114800" cy="5943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1920240" y="1956816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auth login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080760" y="18288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Opens browser. API key stored in OS keychain — never written to files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048" y="2788920"/>
            <a:ext cx="8375904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4048" y="2788920"/>
            <a:ext cx="54864" cy="868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278892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First run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28800" y="2916936"/>
            <a:ext cx="4114800" cy="5943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1" name="Text 19"/>
          <p:cNvSpPr/>
          <p:nvPr/>
        </p:nvSpPr>
        <p:spPr>
          <a:xfrm>
            <a:off x="1920240" y="2916936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'@src/App.tsx what does this do?'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080760" y="278892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Reference files with @ syntax. Claude reads and reasons over the file directly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84048" y="3749040"/>
            <a:ext cx="8375904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84048" y="3749040"/>
            <a:ext cx="54864" cy="868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374904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CLAUDE.md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28800" y="3877056"/>
            <a:ext cx="4114800" cy="5943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7" name="Text 25"/>
          <p:cNvSpPr/>
          <p:nvPr/>
        </p:nvSpPr>
        <p:spPr>
          <a:xfrm>
            <a:off x="1920240" y="3877056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persistent repo memory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80760" y="374904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Tech stack, naming conventions, forbidden patterns, test framework. Loaded automatically every session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84048" y="91440"/>
            <a:ext cx="8375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Cursor IDE: Install &amp; Configure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84048" y="86868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868680"/>
            <a:ext cx="41148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978408"/>
            <a:ext cx="3785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Install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344168"/>
            <a:ext cx="3785616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cursor.com → Download. VS Code fork — installs identically. Sign in with GitHub. All VS Code extensions carry over.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45152" y="86868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45152" y="868680"/>
            <a:ext cx="41148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4809744" y="978408"/>
            <a:ext cx="3785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.cursorrules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9744" y="1344168"/>
            <a:ext cx="3785616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Create at repo root. Example: 'Always use Tailwind. Never write inline CSS. Use Vitest, not Jest. All interactive elements need aria-label.'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4048" y="269748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84048" y="2697480"/>
            <a:ext cx="41148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807208"/>
            <a:ext cx="3785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Cmd+K: Inline AI Prompt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172968"/>
            <a:ext cx="3785616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Select any code block → Cmd+K → write instruction. Cursor edits in-place. Use for: rename, refactor, add error handling, fix a type error.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45152" y="269748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45152" y="2697480"/>
            <a:ext cx="41148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4809744" y="2807208"/>
            <a:ext cx="3785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Cmd+Shift+P: Codebase Chat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09744" y="3172968"/>
            <a:ext cx="3785616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Opens multi-file AI chat. Type @filename to include a specific file. Cursor indexes your entire repo and reasons over it.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Module 1 · Agentic Coding Foundations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DD4BF"/>
                </a:solidFill>
              </a:rPr>
              <a:t>How Claude Code reasons about your repo — and why context quality determines output quality.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" y="91440"/>
            <a:ext cx="8375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Claude Code Architecture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84048" y="868680"/>
            <a:ext cx="8375904" cy="713232"/>
          </a:xfrm>
          <a:prstGeom prst="rect">
            <a:avLst/>
          </a:prstGeom>
          <a:solidFill>
            <a:srgbClr val="1E3A4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75488" y="996696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" y="996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868680"/>
            <a:ext cx="7589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CLI agent that runs in your terminal, connects to the Claude API with your full repo as context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84048" y="1673352"/>
            <a:ext cx="8375904" cy="713232"/>
          </a:xfrm>
          <a:prstGeom prst="rect">
            <a:avLst/>
          </a:prstGeom>
          <a:solidFill>
            <a:srgbClr val="1E3A4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" y="1801368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1673352"/>
            <a:ext cx="7589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Reads files on demand using the @ syntax — you control exactly what enters the context window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84048" y="2478024"/>
            <a:ext cx="8375904" cy="713232"/>
          </a:xfrm>
          <a:prstGeom prst="rect">
            <a:avLst/>
          </a:prstGeom>
          <a:solidFill>
            <a:srgbClr val="1E3A4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" y="260604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2478024"/>
            <a:ext cx="7589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CLAUDE.md loaded automatically at session start — persistent repo memory without re-prompting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84048" y="3282696"/>
            <a:ext cx="8375904" cy="713232"/>
          </a:xfrm>
          <a:prstGeom prst="rect">
            <a:avLst/>
          </a:prstGeom>
          <a:solidFill>
            <a:srgbClr val="1E3A4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" y="3410712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" y="3410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282696"/>
            <a:ext cx="7589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Plans multi-step tasks, writes code, runs shell commands, and iterates on failures in a loop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84048" y="4087368"/>
            <a:ext cx="8375904" cy="713232"/>
          </a:xfrm>
          <a:prstGeom prst="rect">
            <a:avLst/>
          </a:prstGeom>
          <a:solidFill>
            <a:srgbClr val="1E3A4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" y="4215384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" y="4087368"/>
            <a:ext cx="7589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Unlike chat interfaces: file system access — can read, write, and verify changes directly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84048" y="91440"/>
            <a:ext cx="8375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CLI Agents vs Chat Interfaces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84048" y="868680"/>
            <a:ext cx="4023360" cy="3703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868680"/>
            <a:ext cx="4023360" cy="548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978408"/>
            <a:ext cx="3694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CHAT INTERFACES (ChatGPT, Claude.ai)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490472"/>
            <a:ext cx="3694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•  Stateless per session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002536"/>
            <a:ext cx="3694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•  Paste code manually — no repo awareness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514600"/>
            <a:ext cx="3694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•  Cannot run commands or verify output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026664"/>
            <a:ext cx="3694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•  Good for exploration and explanation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538728"/>
            <a:ext cx="3694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•  Not designed for production implementation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36592" y="868680"/>
            <a:ext cx="4023360" cy="3703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36592" y="868680"/>
            <a:ext cx="40233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4901184" y="978408"/>
            <a:ext cx="3694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CLI AGENTS (Claude Code, Cursor)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01184" y="1490472"/>
            <a:ext cx="3694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•  Persistent repo context across session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01184" y="2002536"/>
            <a:ext cx="3694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•  Reads files directly via @ references or indexing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01184" y="2514600"/>
            <a:ext cx="3694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•  Executes shell commands and acts on failures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01184" y="3026664"/>
            <a:ext cx="3694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•  Designed for engineering workflows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01184" y="3538728"/>
            <a:ext cx="3694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•  Verification built into the loop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Module 5 · Trust, Security &amp; Review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DD4BF"/>
                </a:solidFill>
              </a:rPr>
              <a:t>AI-generated code requires a different review posture. Here's the gate-by-gate production workflow.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84048" y="91440"/>
            <a:ext cx="8375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Production Review Workflow for AI-Generated Code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84048" y="868680"/>
            <a:ext cx="4041648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868680"/>
            <a:ext cx="4041648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9601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Gate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3712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Compiler + Type Checker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636776"/>
            <a:ext cx="37124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npx tsc --strict --noEmit (TypeScript)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mypy --strict (Python)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Zero errors required before proceeding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45736" y="868680"/>
            <a:ext cx="4041648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45736" y="868680"/>
            <a:ext cx="4041648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4910328" y="9601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Gate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10328" y="1280160"/>
            <a:ext cx="3712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Test Suite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10328" y="1636776"/>
            <a:ext cx="37124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All tests green. Break-the-implementation check completed for any AI-generated tests. No skipped tests without documented reason.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4048" y="2743200"/>
            <a:ext cx="4041648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4048" y="2743200"/>
            <a:ext cx="4041648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83464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Gate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3154680"/>
            <a:ext cx="3712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Security Checklist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511296"/>
            <a:ext cx="37124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Input validation · Query parameterization · Auth checks · Hardcoded secrets · CORS configuration — manual pass required.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45736" y="2743200"/>
            <a:ext cx="4041648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45736" y="2743200"/>
            <a:ext cx="4041648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4910328" y="283464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Gate 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10328" y="3154680"/>
            <a:ext cx="3712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Human Reviewer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10328" y="3511296"/>
            <a:ext cx="37124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A human who did not write the code reviews the diff. AI-generated code reviewed with extra skepticism.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Module 6 · Full-Stack AI Workflow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DD4BF"/>
                </a:solidFill>
              </a:rPr>
              <a:t>Backend generation · Frontend generation · API contract alignment · End-to-end verification.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84048" y="91440"/>
            <a:ext cx="8375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Full-Stack Generation Workflow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84048" y="868680"/>
            <a:ext cx="4041648" cy="3703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868680"/>
            <a:ext cx="4041648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950976"/>
            <a:ext cx="3712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891B2"/>
                </a:solidFill>
              </a:rPr>
              <a:t>BACKEND (FastAPI)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389888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389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32688" y="1362456"/>
            <a:ext cx="3419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Define the Pydantic response model first — it is both spec and type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103120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103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32688" y="2075688"/>
            <a:ext cx="3419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Prompt: 'Write a FastAPI async route using SearchResponse. Include input validation, error handling, parameterized queries.'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816352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816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32688" y="2788920"/>
            <a:ext cx="3419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Write contract tests: 'Write pytest tests that verify response shape matches SearchResponse exactly.'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529584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529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32688" y="3502152"/>
            <a:ext cx="3419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Run mypy + tests. Only then commit — the frontend depends on this contract being stable.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18304" y="868680"/>
            <a:ext cx="4041648" cy="3703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18304" y="868680"/>
            <a:ext cx="4041648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4882896" y="950976"/>
            <a:ext cx="3712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FRONTEND (React + TypeScript)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82896" y="1389888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4882896" y="1389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266944" y="1362456"/>
            <a:ext cx="3419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Write the TypeScript interface matching the backend response model before generating components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82896" y="2103120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4882896" y="2103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266944" y="2075688"/>
            <a:ext cx="3419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Prompt: 'Create SearchResults component using SearchResponse. Loading, empty, error states required. Tailwind. aria-label on all interactive elements.'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82896" y="2816352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4882896" y="2816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266944" y="2788920"/>
            <a:ext cx="3419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Prompt: 'Write Vitest + Testing Library tests covering loading, empty, populated, and error states.'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82896" y="3529584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3" name="Text 31"/>
          <p:cNvSpPr/>
          <p:nvPr/>
        </p:nvSpPr>
        <p:spPr>
          <a:xfrm>
            <a:off x="4882896" y="3529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266944" y="3502152"/>
            <a:ext cx="3419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Wire component to real API. Run the full app. Automated tests catch unit behavior, not integration issues.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" y="91440"/>
            <a:ext cx="8375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Final Lab · 60 Minutes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84048" y="868680"/>
            <a:ext cx="2651760" cy="2560320"/>
          </a:xfrm>
          <a:prstGeom prst="rect">
            <a:avLst/>
          </a:prstGeom>
          <a:solidFill>
            <a:srgbClr val="1E3A4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868680"/>
            <a:ext cx="26517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60120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Phase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298448"/>
            <a:ext cx="2322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Backend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232257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FastAPI /api/products/search with Pydantic response model, input validation, parameterized queries, error handling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18688" y="868680"/>
            <a:ext cx="2651760" cy="2560320"/>
          </a:xfrm>
          <a:prstGeom prst="rect">
            <a:avLst/>
          </a:prstGeom>
          <a:solidFill>
            <a:srgbClr val="1E3A4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18688" y="868680"/>
            <a:ext cx="26517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960120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Phase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83280" y="1298448"/>
            <a:ext cx="2322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Frontend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83280" y="1783080"/>
            <a:ext cx="232257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React TypeScript SearchResults component with loading/empty/error states, Tailwind, accessible markup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53328" y="868680"/>
            <a:ext cx="2651760" cy="2560320"/>
          </a:xfrm>
          <a:prstGeom prst="rect">
            <a:avLst/>
          </a:prstGeom>
          <a:solidFill>
            <a:srgbClr val="1E3A4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53328" y="868680"/>
            <a:ext cx="26517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960120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Phase 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17920" y="1298448"/>
            <a:ext cx="2322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Tests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17920" y="1783080"/>
            <a:ext cx="232257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Vitest suite covering component states + pytest contract tests for the API response shape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84048" y="3611880"/>
            <a:ext cx="8375904" cy="1005840"/>
          </a:xfrm>
          <a:prstGeom prst="rect">
            <a:avLst/>
          </a:prstGeom>
          <a:solidFill>
            <a:srgbClr val="1E3A4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4048" y="3611880"/>
            <a:ext cx="54864" cy="100584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361188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D4BF"/>
                </a:solidFill>
              </a:rPr>
              <a:t>Deliverable: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920240" y="3611880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GitHub repo + working feature + time-comparison.md with phase-by-phase breakdown + AI Trust Log from exercises 2–5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D4BF"/>
                </a:solidFill>
              </a:rPr>
              <a:t>→ Tomorrow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LLM APIs &amp; Streaming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Your AI tools now work.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Tomorrow you wire AI into production systems.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Coding Assistants for Product Engineers</dc:title>
  <dc:subject>PptxGenJS Presentation</dc:subject>
  <dc:creator>PptxGenJS</dc:creator>
  <cp:lastModifiedBy>PptxGenJS</cp:lastModifiedBy>
  <cp:revision>1</cp:revision>
  <dcterms:created xsi:type="dcterms:W3CDTF">2026-05-21T06:00:26Z</dcterms:created>
  <dcterms:modified xsi:type="dcterms:W3CDTF">2026-05-21T06:00:26Z</dcterms:modified>
</cp:coreProperties>
</file>